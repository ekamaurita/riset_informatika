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T Interphases" charset="1" panose="02000503020000020004"/>
      <p:regular r:id="rId13"/>
    </p:embeddedFont>
    <p:embeddedFont>
      <p:font typeface="TT Interphases Bold" charset="1" panose="0200080306000002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3693" y="-433592"/>
            <a:ext cx="19574302" cy="11154184"/>
          </a:xfrm>
          <a:custGeom>
            <a:avLst/>
            <a:gdLst/>
            <a:ahLst/>
            <a:cxnLst/>
            <a:rect r="r" b="b" t="t" l="l"/>
            <a:pathLst>
              <a:path h="11154184" w="19574302">
                <a:moveTo>
                  <a:pt x="0" y="0"/>
                </a:moveTo>
                <a:lnTo>
                  <a:pt x="19574303" y="0"/>
                </a:lnTo>
                <a:lnTo>
                  <a:pt x="19574303" y="11154184"/>
                </a:lnTo>
                <a:lnTo>
                  <a:pt x="0" y="1115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459" r="0" b="-84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7630778" y="-216796"/>
            <a:ext cx="16066282" cy="10720592"/>
          </a:xfrm>
          <a:custGeom>
            <a:avLst/>
            <a:gdLst/>
            <a:ahLst/>
            <a:cxnLst/>
            <a:rect r="r" b="b" t="t" l="l"/>
            <a:pathLst>
              <a:path h="10720592" w="16066282">
                <a:moveTo>
                  <a:pt x="16066283" y="0"/>
                </a:moveTo>
                <a:lnTo>
                  <a:pt x="0" y="0"/>
                </a:lnTo>
                <a:lnTo>
                  <a:pt x="0" y="10720592"/>
                </a:lnTo>
                <a:lnTo>
                  <a:pt x="16066283" y="10720592"/>
                </a:lnTo>
                <a:lnTo>
                  <a:pt x="16066283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78688" y="3376626"/>
            <a:ext cx="8380612" cy="38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899"/>
              </a:lnSpc>
            </a:pPr>
            <a:r>
              <a:rPr lang="en-US" sz="10999" spc="-505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PRESENTASI RISET INFORMATIKA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78688" y="7662298"/>
            <a:ext cx="5659747" cy="45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30"/>
              </a:lnSpc>
            </a:pPr>
            <a:r>
              <a:rPr lang="en-US" sz="3700" spc="-170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Eka Maurita (22081010119)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787181" y="1607720"/>
            <a:ext cx="7500819" cy="570557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1130686"/>
            <a:ext cx="7924800" cy="123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037"/>
              </a:lnSpc>
            </a:pPr>
            <a:r>
              <a:rPr lang="en-US" sz="10041" spc="-461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Latar Belakang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60429"/>
            <a:ext cx="9758481" cy="521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Anca</a:t>
            </a:r>
            <a:r>
              <a:rPr lang="en-US" b="true" sz="29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man Digital: </a:t>
            </a:r>
            <a:r>
              <a:rPr lang="en-US" sz="2999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Peningkatan ancaman keamanan digital, khususnya serangan phishing yang menggunakan URL menyesatkan untuk mencuri informasi sensitif (username, password, detail kartu kredit).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Tujuan Penelitian: </a:t>
            </a:r>
            <a:r>
              <a:rPr lang="en-US" sz="2999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Mengembangkan metode untuk memprediksi URL berbahaya menggunakan algoritma klasifikasi LightGBM dan XGBoost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Manfaat: </a:t>
            </a:r>
            <a:r>
              <a:rPr lang="en-US" sz="2999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Meningkatkan keamanan digital dengan menyediakan alat prediksi yang efektif terhadap URL berbahaya.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C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19719" y="950100"/>
            <a:ext cx="7611342" cy="238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037"/>
              </a:lnSpc>
            </a:pPr>
            <a:r>
              <a:rPr lang="en-US" sz="10041" spc="-461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Metodologi Penelitian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96054" y="3275768"/>
            <a:ext cx="10506985" cy="713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b="true" sz="26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</a:t>
            </a:r>
            <a:r>
              <a:rPr lang="en-US" b="true" sz="26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engolahan Data: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Eksplorasi Data: </a:t>
            </a:r>
            <a:r>
              <a:rPr lang="en-US" sz="2699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Memahami distribusi dan karakteristik URL.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Feature Engineering (Ekstraksi Fitur): </a:t>
            </a:r>
            <a:r>
              <a:rPr lang="en-US" sz="2699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Mengubah URL menjadi fitur numerik. </a:t>
            </a:r>
            <a:r>
              <a:rPr lang="en-US" b="true" sz="26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Fitur-fitur yang diekstrak: </a:t>
            </a:r>
            <a:r>
              <a:rPr lang="en-US" sz="2699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Panjang URL, jumlah direktori, keberadaan alamat IP, panjang hostname, abnormalitas URL, dll..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Pembagian Data (Split Data): </a:t>
            </a:r>
            <a:r>
              <a:rPr lang="en-US" sz="2699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80% untuk data pelatihan dan 20% untuk data pengujian.</a:t>
            </a:r>
          </a:p>
          <a:p>
            <a:pPr algn="just">
              <a:lnSpc>
                <a:spcPts val="3779"/>
              </a:lnSpc>
            </a:pPr>
            <a:r>
              <a:rPr lang="en-US" b="true" sz="26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Pemodelan: </a:t>
            </a:r>
            <a:r>
              <a:rPr lang="en-US" sz="2699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Menggunakan dua algoritma supervised learning berbasis decision tree: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LightGBM: </a:t>
            </a:r>
            <a:r>
              <a:rPr lang="en-US" sz="2699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Efisien, cepat, dan memiliki performa tinggi</a:t>
            </a:r>
            <a:r>
              <a:rPr lang="en-US" b="true" sz="26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XGBoost: </a:t>
            </a:r>
            <a:r>
              <a:rPr lang="en-US" sz="2699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Algoritma boosting berbasis pohon keputusan yang mampu meningkatkan akurasi sambil mengurangi overfitting.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11636" y="1286998"/>
            <a:ext cx="8539631" cy="8340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3B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13098" y="4540998"/>
            <a:ext cx="7888719" cy="5308450"/>
          </a:xfrm>
          <a:custGeom>
            <a:avLst/>
            <a:gdLst/>
            <a:ahLst/>
            <a:cxnLst/>
            <a:rect r="r" b="b" t="t" l="l"/>
            <a:pathLst>
              <a:path h="5308450" w="7888719">
                <a:moveTo>
                  <a:pt x="0" y="0"/>
                </a:moveTo>
                <a:lnTo>
                  <a:pt x="7888719" y="0"/>
                </a:lnTo>
                <a:lnTo>
                  <a:pt x="7888719" y="5308450"/>
                </a:lnTo>
                <a:lnTo>
                  <a:pt x="0" y="5308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7148" y="856221"/>
            <a:ext cx="9779565" cy="238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037"/>
              </a:lnSpc>
            </a:pPr>
            <a:r>
              <a:rPr lang="en-US" sz="10041" spc="-461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Dist</a:t>
            </a:r>
            <a:r>
              <a:rPr lang="en-US" sz="10041" spc="-461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ribusi Data (Split Data)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72686" y="3588247"/>
            <a:ext cx="1236849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</a:t>
            </a:r>
            <a:r>
              <a:rPr lang="en-US" b="true" sz="220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taset dibagi menjadi data pelatihan (80%) dan data pengujian (20%). Total URL yang digunakan adalah 651.191.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7916" y="3711480"/>
            <a:ext cx="8012297" cy="3938248"/>
          </a:xfrm>
          <a:custGeom>
            <a:avLst/>
            <a:gdLst/>
            <a:ahLst/>
            <a:cxnLst/>
            <a:rect r="r" b="b" t="t" l="l"/>
            <a:pathLst>
              <a:path h="3938248" w="8012297">
                <a:moveTo>
                  <a:pt x="0" y="0"/>
                </a:moveTo>
                <a:lnTo>
                  <a:pt x="8012298" y="0"/>
                </a:lnTo>
                <a:lnTo>
                  <a:pt x="8012298" y="3938248"/>
                </a:lnTo>
                <a:lnTo>
                  <a:pt x="0" y="393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28962" y="5694566"/>
            <a:ext cx="7830338" cy="3910323"/>
          </a:xfrm>
          <a:custGeom>
            <a:avLst/>
            <a:gdLst/>
            <a:ahLst/>
            <a:cxnLst/>
            <a:rect r="r" b="b" t="t" l="l"/>
            <a:pathLst>
              <a:path h="3910323" w="7830338">
                <a:moveTo>
                  <a:pt x="0" y="0"/>
                </a:moveTo>
                <a:lnTo>
                  <a:pt x="7830338" y="0"/>
                </a:lnTo>
                <a:lnTo>
                  <a:pt x="7830338" y="3910323"/>
                </a:lnTo>
                <a:lnTo>
                  <a:pt x="0" y="39103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91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52410" y="8068118"/>
            <a:ext cx="408341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400"/>
              </a:lnSpc>
            </a:pPr>
            <a:r>
              <a:rPr lang="en-US" sz="6000" spc="-276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LightGBM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16870" y="928669"/>
            <a:ext cx="9424182" cy="122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999"/>
              </a:lnSpc>
            </a:pPr>
            <a:r>
              <a:rPr lang="en-US" b="true" sz="9999" spc="-45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Evaluasi Model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25909" y="4391025"/>
            <a:ext cx="408341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400"/>
              </a:lnSpc>
            </a:pPr>
            <a:r>
              <a:rPr lang="en-US" sz="6000" spc="-276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XGBoost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3849" y="3948430"/>
            <a:ext cx="8175042" cy="3109077"/>
          </a:xfrm>
          <a:custGeom>
            <a:avLst/>
            <a:gdLst/>
            <a:ahLst/>
            <a:cxnLst/>
            <a:rect r="r" b="b" t="t" l="l"/>
            <a:pathLst>
              <a:path h="3109077" w="8175042">
                <a:moveTo>
                  <a:pt x="0" y="0"/>
                </a:moveTo>
                <a:lnTo>
                  <a:pt x="8175042" y="0"/>
                </a:lnTo>
                <a:lnTo>
                  <a:pt x="8175042" y="3109076"/>
                </a:lnTo>
                <a:lnTo>
                  <a:pt x="0" y="31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4162" y="1231588"/>
            <a:ext cx="7223569" cy="122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999"/>
              </a:lnSpc>
            </a:pPr>
            <a:r>
              <a:rPr lang="en-US" sz="9999" spc="-459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Hasil Prediksi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10687" y="-220302"/>
            <a:ext cx="16101469" cy="10727604"/>
          </a:xfrm>
          <a:custGeom>
            <a:avLst/>
            <a:gdLst/>
            <a:ahLst/>
            <a:cxnLst/>
            <a:rect r="r" b="b" t="t" l="l"/>
            <a:pathLst>
              <a:path h="10727604" w="16101469">
                <a:moveTo>
                  <a:pt x="0" y="0"/>
                </a:moveTo>
                <a:lnTo>
                  <a:pt x="16101470" y="0"/>
                </a:lnTo>
                <a:lnTo>
                  <a:pt x="16101470" y="10727604"/>
                </a:lnTo>
                <a:lnTo>
                  <a:pt x="0" y="10727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98704" y="-842851"/>
            <a:ext cx="17657252" cy="11782203"/>
          </a:xfrm>
          <a:custGeom>
            <a:avLst/>
            <a:gdLst/>
            <a:ahLst/>
            <a:cxnLst/>
            <a:rect r="r" b="b" t="t" l="l"/>
            <a:pathLst>
              <a:path h="11782203" w="17657252">
                <a:moveTo>
                  <a:pt x="0" y="0"/>
                </a:moveTo>
                <a:lnTo>
                  <a:pt x="17657252" y="0"/>
                </a:lnTo>
                <a:lnTo>
                  <a:pt x="17657252" y="11782202"/>
                </a:lnTo>
                <a:lnTo>
                  <a:pt x="0" y="11782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19200" y="2673375"/>
            <a:ext cx="8144502" cy="517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3331"/>
              </a:lnSpc>
            </a:pPr>
            <a:r>
              <a:rPr lang="en-US" sz="14812" spc="-681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Thank you very much!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8877857"/>
            <a:ext cx="9179504" cy="37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700"/>
              </a:lnSpc>
            </a:pPr>
            <a:r>
              <a:rPr lang="en-US" sz="3000" spc="-138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DAG7iECEUzE</dc:identifier>
  <dcterms:modified xsi:type="dcterms:W3CDTF">2011-08-01T06:04:30Z</dcterms:modified>
  <cp:revision>1</cp:revision>
  <dc:title>Purple Simple Results Analysis Presentation</dc:title>
</cp:coreProperties>
</file>